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520A5-6EC5-4F98-92AC-F2B432C14B30}" v="595" dt="2026-10-11T09:20:48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095" y="1453042"/>
            <a:ext cx="11041810" cy="11367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BMW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5207" y="2940679"/>
            <a:ext cx="5405887" cy="491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b="1">
                <a:solidFill>
                  <a:srgbClr val="42CDE1"/>
                </a:solidFill>
              </a:rPr>
              <a:t>Insights, trends and business interpretation</a:t>
            </a:r>
            <a:endParaRPr lang="en-US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F6A4D-B0AA-32D9-DE1F-0733E13DEE72}"/>
              </a:ext>
            </a:extLst>
          </p:cNvPr>
          <p:cNvSpPr txBox="1"/>
          <p:nvPr/>
        </p:nvSpPr>
        <p:spPr>
          <a:xfrm>
            <a:off x="1260895" y="4785935"/>
            <a:ext cx="421084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Presented by: Hanshika Chaudhary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Course: BBA in Business Analytics in </a:t>
            </a: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collaboration with IBM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Section: BBABA23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SUBJECT Teacher: Mr. Shubham Pathak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5CC4-2DE4-5416-BF9F-E6CD559D2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170" y="245344"/>
            <a:ext cx="9144000" cy="777337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rgbClr val="F5F7FA"/>
                </a:solidFill>
                <a:latin typeface="Aptos"/>
              </a:rPr>
              <a:t>1. Dashboard Overview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1BC9A-0CD9-2712-55D2-B5A324BCF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70" y="1172264"/>
            <a:ext cx="8913963" cy="54870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>
                <a:solidFill>
                  <a:srgbClr val="C6CFDC"/>
                </a:solidFill>
              </a:rPr>
              <a:t>A single-page view of sales volume, revenue, product mix and customer segments.</a:t>
            </a:r>
            <a:endParaRPr lang="en-US" sz="200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36813-7EBF-BF1B-F3FC-3141A9685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916591"/>
            <a:ext cx="9277350" cy="47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7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7ED2-E895-4A60-9700-BE222C6FC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943" y="302854"/>
            <a:ext cx="7936302" cy="806091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solidFill>
                  <a:srgbClr val="F5F7FA"/>
                </a:solidFill>
                <a:latin typeface="Aptos"/>
              </a:rPr>
              <a:t>2. KPI Cards — Overall Performance</a:t>
            </a:r>
            <a:endParaRPr lang="en-US" sz="3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43F6D2-C3D7-D1C5-30A8-5FBD1D2D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02" y="1308773"/>
            <a:ext cx="11559397" cy="804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F0091-193B-19C4-6732-E315219D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838" y="2238016"/>
            <a:ext cx="1651419" cy="120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079367-292E-BD58-6471-2AB461378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01" y="3637904"/>
            <a:ext cx="11559397" cy="804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2B6D4-1C78-9E74-6DBA-2FC429E58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806" y="4648559"/>
            <a:ext cx="1632728" cy="119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0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6D37B-550A-2431-B58D-0F378560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7" y="273603"/>
            <a:ext cx="11487510" cy="818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7DB180-7577-0518-C89D-69EA11553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325" y="1169328"/>
            <a:ext cx="1502973" cy="1068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8FCE9-AB5D-E9ED-F519-9792720F4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33" y="2460758"/>
            <a:ext cx="11487510" cy="829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F7742-930B-A731-C5D5-3A8BC4B19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267" y="3436100"/>
            <a:ext cx="1521842" cy="1020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203FE-C53B-7E32-F87E-4344FA1E6D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33" y="4601188"/>
            <a:ext cx="11487510" cy="833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1D07D-6A14-34C8-853B-B252ECA33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2653" y="5573563"/>
            <a:ext cx="1512318" cy="101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5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3287-4139-9181-3305-5935B458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60" y="178219"/>
            <a:ext cx="5512280" cy="750469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3. Series / Model Slicer</a:t>
            </a:r>
            <a:endParaRPr lang="en-US" sz="3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5B85D-C209-77D3-1A1B-5D71F86D7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70" y="944592"/>
            <a:ext cx="8457660" cy="1403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4E46E8-6BF0-487A-2B53-F3DD59D4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73" y="2545226"/>
            <a:ext cx="11890076" cy="876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766D88-BFA2-7C9A-3316-6A5EFB690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73" y="3422245"/>
            <a:ext cx="11890076" cy="876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2F4FC6-1FC9-1A58-6211-085A772D1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72" y="4299264"/>
            <a:ext cx="11890077" cy="876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0DAF2-DB2D-2BF5-344D-297E200A2B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73" y="5176283"/>
            <a:ext cx="11890076" cy="8761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73D382-46C4-336B-62C1-675E3332E9E2}"/>
              </a:ext>
            </a:extLst>
          </p:cNvPr>
          <p:cNvSpPr txBox="1"/>
          <p:nvPr/>
        </p:nvSpPr>
        <p:spPr>
          <a:xfrm>
            <a:off x="287867" y="6183223"/>
            <a:ext cx="313266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3EFEC-692F-FA9B-FA32-EEED4115E9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490" y="6175382"/>
            <a:ext cx="11545019" cy="68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2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B453-B9C7-CFCD-455D-8EF36073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4" y="192597"/>
            <a:ext cx="8373374" cy="85111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4. Units Sold by Model</a:t>
            </a:r>
            <a:endParaRPr lang="en-US" sz="5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A1B313-5462-B195-8A9D-340DC2910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42" y="3165645"/>
            <a:ext cx="10466717" cy="32440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CCF6F-56EA-59DD-D11E-FF7EF36BD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439" y="186367"/>
            <a:ext cx="6656177" cy="2790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35748B-CB36-083D-5219-AE24075E8118}"/>
              </a:ext>
            </a:extLst>
          </p:cNvPr>
          <p:cNvSpPr txBox="1"/>
          <p:nvPr/>
        </p:nvSpPr>
        <p:spPr>
          <a:xfrm>
            <a:off x="158471" y="1237412"/>
            <a:ext cx="313266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A480F-18BC-9F47-E4B9-FF505D135F17}"/>
              </a:ext>
            </a:extLst>
          </p:cNvPr>
          <p:cNvSpPr txBox="1"/>
          <p:nvPr/>
        </p:nvSpPr>
        <p:spPr>
          <a:xfrm>
            <a:off x="228600" y="1554480"/>
            <a:ext cx="452628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Focus inventory and promotion decisions on the best-selling models, while investigating lower-volume models.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35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905-D1CC-096F-1221-78C4DF62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74" y="163842"/>
            <a:ext cx="5095336" cy="1009262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5F7FA"/>
                </a:solidFill>
                <a:latin typeface="Aptos"/>
              </a:rPr>
              <a:t>5. Revenue by Region</a:t>
            </a:r>
            <a:endParaRPr lang="en-US" sz="4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8DCD8-8A57-B959-3304-6AEE47782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28" y="3422641"/>
            <a:ext cx="10322944" cy="3132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54F9BC-A169-F3B3-784B-F2C7BF8BD83E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AA659-8A2A-7199-8BD3-972913CAA9AA}"/>
              </a:ext>
            </a:extLst>
          </p:cNvPr>
          <p:cNvSpPr txBox="1"/>
          <p:nvPr/>
        </p:nvSpPr>
        <p:spPr>
          <a:xfrm>
            <a:off x="214223" y="1712631"/>
            <a:ext cx="4526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Compare regional contribution to spot strong markets and opportunities for regional growth.</a:t>
            </a:r>
            <a:endParaRPr lang="en-US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419A30-A2FB-5CCC-098D-F291CDCFA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101" y="1174989"/>
            <a:ext cx="6436024" cy="16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3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0AF7-DE41-8CDF-F384-2EBC0AF0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192597"/>
            <a:ext cx="6418053" cy="879865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5F7FA"/>
                </a:solidFill>
                <a:latin typeface="Aptos"/>
              </a:rPr>
              <a:t>6. Units Sold by Fuel Type</a:t>
            </a:r>
            <a:endParaRPr lang="en-US" sz="4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D9A57B-4D17-6972-EF35-34ECEBAD9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33" y="3422641"/>
            <a:ext cx="11473133" cy="3190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53EEF9-69B9-C725-D62C-FE72FDE402C1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E6563-D7D7-9D03-FED6-89D7881A70C5}"/>
              </a:ext>
            </a:extLst>
          </p:cNvPr>
          <p:cNvSpPr txBox="1"/>
          <p:nvPr/>
        </p:nvSpPr>
        <p:spPr>
          <a:xfrm>
            <a:off x="214223" y="1712631"/>
            <a:ext cx="4526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The sales mix is not evenly split; one fuel category contributes the largest share.</a:t>
            </a:r>
            <a:endParaRPr lang="en-US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AD561-5D98-A88C-E0E4-4CD1F198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87" y="426020"/>
            <a:ext cx="5109174" cy="290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4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B3DB-D3B5-2B07-60D7-144D6DB3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74" y="221351"/>
            <a:ext cx="8200846" cy="966130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5F7FA"/>
                </a:solidFill>
                <a:latin typeface="Aptos"/>
              </a:rPr>
              <a:t>7. Units Sold by Year and Fuel Type</a:t>
            </a:r>
            <a:endParaRPr lang="en-US" sz="4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3B3DA3-7A41-65AA-DFCC-E76B40C98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7" y="3422641"/>
            <a:ext cx="11070567" cy="3348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90F8C-EEC3-A1A4-77D2-99093A368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759" y="1015581"/>
            <a:ext cx="5258518" cy="2296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069D1C-17D2-26FC-A8CC-A2DB17F940CB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CCCAA-9C2C-ABD2-08FD-3078F46AA7EC}"/>
              </a:ext>
            </a:extLst>
          </p:cNvPr>
          <p:cNvSpPr txBox="1"/>
          <p:nvPr/>
        </p:nvSpPr>
        <p:spPr>
          <a:xfrm>
            <a:off x="214223" y="1712631"/>
            <a:ext cx="45262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Track each fuel type over time to understand shifts in customer demand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162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0A47-256D-7A28-8680-43A446C0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8E95-C136-C363-8C7E-DA8050884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192597"/>
            <a:ext cx="6418053" cy="87986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F5F7FA"/>
                </a:solidFill>
                <a:latin typeface="Aptos"/>
              </a:rPr>
              <a:t>8. Revenue by Region — Ranking</a:t>
            </a:r>
            <a:endParaRPr lang="en-US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67714-2386-9865-764A-29E504708302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1657C-DB67-7E4C-7C50-0B4D8ADE0A83}"/>
              </a:ext>
            </a:extLst>
          </p:cNvPr>
          <p:cNvSpPr txBox="1"/>
          <p:nvPr/>
        </p:nvSpPr>
        <p:spPr>
          <a:xfrm>
            <a:off x="214223" y="1712631"/>
            <a:ext cx="4526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Use the ranking to prioritize market-level sales actions and investigate weaker regions.</a:t>
            </a:r>
            <a:endParaRPr lang="en-US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A4502-2A30-031C-C08E-D7F341D1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18" y="3422641"/>
            <a:ext cx="10437963" cy="3175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03E741-2DA3-5E13-3F9F-C6E6FE2F0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88" y="358625"/>
            <a:ext cx="5194719" cy="273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9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0066-EBF9-3562-5E82-0D203A2F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A861-02A2-607B-56B2-CCCF76B0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192597"/>
            <a:ext cx="6418053" cy="879865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9. Revenue Trend by Year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BBCA6-C3D8-CBF6-FDD6-D9D20C83729D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C29C4-3CFF-018A-84CE-51491D62A1CD}"/>
              </a:ext>
            </a:extLst>
          </p:cNvPr>
          <p:cNvSpPr txBox="1"/>
          <p:nvPr/>
        </p:nvSpPr>
        <p:spPr>
          <a:xfrm>
            <a:off x="214223" y="1712631"/>
            <a:ext cx="452628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Validate the final year and investigate the 2024 peak and 2025 decline.</a:t>
            </a:r>
            <a:endParaRPr lang="en-US"/>
          </a:p>
          <a:p>
            <a:endParaRPr lang="en-US" sz="1500" b="1" dirty="0">
              <a:solidFill>
                <a:srgbClr val="F5F7F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A2DD5-1880-6850-C6CF-14525558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223" y="191130"/>
            <a:ext cx="5699364" cy="273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74AD3-A021-B807-C59E-0DB4B726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" y="3223155"/>
            <a:ext cx="10912415" cy="30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67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DACA6-1E75-D2F9-01F2-3B7C1DB7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F68F-61E2-BFD5-3BF7-2C359A091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192597"/>
            <a:ext cx="6418053" cy="879865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rgbClr val="F5F7FA"/>
                </a:solidFill>
                <a:latin typeface="Aptos"/>
              </a:rPr>
              <a:t>10. Units Sold by Customer Type</a:t>
            </a:r>
            <a:endParaRPr lang="en-US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96D15-1537-FE46-0DEF-73AFE8910832}"/>
              </a:ext>
            </a:extLst>
          </p:cNvPr>
          <p:cNvSpPr txBox="1"/>
          <p:nvPr/>
        </p:nvSpPr>
        <p:spPr>
          <a:xfrm>
            <a:off x="215980" y="1381185"/>
            <a:ext cx="307515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42CDE1"/>
                </a:solidFill>
              </a:rPr>
              <a:t>KEY TAKEAWAY</a:t>
            </a:r>
            <a:endParaRPr lang="en-US" sz="200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C31A7-E6BA-E5D6-526A-26F9DAE6EB05}"/>
              </a:ext>
            </a:extLst>
          </p:cNvPr>
          <p:cNvSpPr txBox="1"/>
          <p:nvPr/>
        </p:nvSpPr>
        <p:spPr>
          <a:xfrm>
            <a:off x="214223" y="1712631"/>
            <a:ext cx="452628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solidFill>
                  <a:srgbClr val="F5F7FA"/>
                </a:solidFill>
              </a:rPr>
              <a:t>Sales depend heavily on one customer segment, so understand and retain that segment while growing others.</a:t>
            </a:r>
            <a:endParaRPr lang="en-US"/>
          </a:p>
          <a:p>
            <a:endParaRPr lang="en-US" sz="1500" b="1" dirty="0">
              <a:solidFill>
                <a:srgbClr val="F5F7F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7D096-2372-335D-2F4E-67763E1C8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91" y="195892"/>
            <a:ext cx="5099649" cy="2814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BFFC3-70DD-CA73-DF4E-53C18FCD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24437"/>
            <a:ext cx="10668000" cy="327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30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9B53-B860-D156-22EC-A987DCFB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2800-B322-EFD6-0499-AD71659A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0" y="408257"/>
            <a:ext cx="6418053" cy="879865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11. Key Business Insights</a:t>
            </a:r>
            <a:endParaRPr lang="en-US" sz="5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89A22-F325-D17B-2598-310E3F0FC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7" y="1714416"/>
            <a:ext cx="11616906" cy="44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08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544BF-800C-5F39-BB18-0A89069A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372B-B68A-F36A-902D-38A2CDE7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7" y="609540"/>
            <a:ext cx="6418053" cy="879865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12. Recommendations</a:t>
            </a:r>
            <a:endParaRPr lang="en-US"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8172F-6418-2A7C-20AB-8CDA41029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43" y="1917493"/>
            <a:ext cx="11358114" cy="446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58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0E0-BAF4-464C-1640-E6D56E1B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rgbClr val="F5F7FA"/>
                </a:solidFill>
                <a:latin typeface="Aptos"/>
              </a:rPr>
              <a:t>13. Conclusion</a:t>
            </a:r>
            <a:endParaRPr lang="en-US" sz="5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85BBB-7831-914C-C999-3DF45537E1CC}"/>
              </a:ext>
            </a:extLst>
          </p:cNvPr>
          <p:cNvSpPr txBox="1"/>
          <p:nvPr/>
        </p:nvSpPr>
        <p:spPr>
          <a:xfrm>
            <a:off x="844814" y="1953021"/>
            <a:ext cx="1092851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300" b="1">
                <a:solidFill>
                  <a:srgbClr val="F5F7FA"/>
                </a:solidFill>
              </a:rPr>
              <a:t>The BMW Sales Dashboard brings sales volume, revenue, model performance, region, fuel type and customer type into one view.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4DD90-D802-9B72-ECFB-3FD27C74F74F}"/>
              </a:ext>
            </a:extLst>
          </p:cNvPr>
          <p:cNvSpPr txBox="1"/>
          <p:nvPr/>
        </p:nvSpPr>
        <p:spPr>
          <a:xfrm>
            <a:off x="837337" y="3629133"/>
            <a:ext cx="10241280" cy="1005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>
                <a:solidFill>
                  <a:schemeClr val="accent1">
                    <a:lumMod val="40000"/>
                    <a:lumOff val="60000"/>
                  </a:schemeClr>
                </a:solidFill>
              </a:rPr>
              <a:t>Its main value is helping decision-makers compare performance, detect changes over time and identify where deeper analysis is needed.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/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45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1E5DC8-BAFB-1F00-750B-D9C719B3B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" y="4225"/>
            <a:ext cx="12190022" cy="684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75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BMW SALES DASHBOARD</vt:lpstr>
      <vt:lpstr>1. Dashboard Overview</vt:lpstr>
      <vt:lpstr>2. KPI Cards — Overall Performance</vt:lpstr>
      <vt:lpstr>PowerPoint Presentation</vt:lpstr>
      <vt:lpstr>3. Series / Model Slicer</vt:lpstr>
      <vt:lpstr>4. Units Sold by Model</vt:lpstr>
      <vt:lpstr>5. Revenue by Region</vt:lpstr>
      <vt:lpstr>6. Units Sold by Fuel Type</vt:lpstr>
      <vt:lpstr>7. Units Sold by Year and Fuel Type</vt:lpstr>
      <vt:lpstr>8. Revenue by Region — Ranking</vt:lpstr>
      <vt:lpstr>9. Revenue Trend by Year</vt:lpstr>
      <vt:lpstr>10. Units Sold by Customer Type</vt:lpstr>
      <vt:lpstr>11. Key Business Insights</vt:lpstr>
      <vt:lpstr>12. Recommendations</vt:lpstr>
      <vt:lpstr>13.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279</cp:revision>
  <dcterms:created xsi:type="dcterms:W3CDTF">2026-10-11T08:09:19Z</dcterms:created>
  <dcterms:modified xsi:type="dcterms:W3CDTF">2026-10-11T09:21:14Z</dcterms:modified>
</cp:coreProperties>
</file>